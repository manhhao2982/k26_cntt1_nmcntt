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sldIdLst>
    <p:sldId id="256" r:id="rId6"/>
    <p:sldId id="259" r:id="rId7"/>
    <p:sldId id="260" r:id="rId8"/>
    <p:sldId id="261" r:id="rId9"/>
    <p:sldId id="262" r:id="rId10"/>
  </p:sldIdLst>
  <p:sldSz cx="12192000" cy="6858000"/>
  <p:notesSz cx="6858000" cy="9144000"/>
  <p:custDataLst>
    <p:tags r:id="rId14"/>
  </p:custData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48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vi-V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Doanh số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numRef>
              <c:f>Sheet1!$A$2:$A$5</c:f>
              <c:numCache>
                <c:ptCount val="0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rotWithShape="1"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0"/>
    </a:gradFill>
    <a:ln>
      <a:noFill/>
    </a:ln>
    <a:effectLst/>
  </c:spPr>
  <c:txPr>
    <a:bodyPr/>
    <a:lstStyle/>
    <a:p>
      <a:pPr>
        <a:defRPr lang="vi-V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tags" Target="../tags/tag136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rang chiếu Tiêu đề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ình giữ chỗ số trang chiế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  <p:sp>
        <p:nvSpPr>
          <p:cNvPr id="5" name="Trình giữ chỗ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Phần giữ chỗ ngà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ội dung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4" name="Phần giữ chỗ ngà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Trình giữ chỗ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Trình giữ chỗ số trang chiế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ần giữ chỗ ngà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Trình giữ chỗ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Trình giữ chỗ số trang chiế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êu đề phầ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Trình giữ chỗ Văn bản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</p:txBody>
      </p:sp>
      <p:sp>
        <p:nvSpPr>
          <p:cNvPr id="4" name="Phần giữ chỗ ngà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Trình giữ chỗ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Trình giữ chỗ số trang chiế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Nội dung hai cộ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ội dung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4" name="Phần giữ chỗ nội dung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5" name="Phần giữ chỗ ngà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6" name="Trình giữ chỗ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7" name="Trình giữ chỗ số trang chiế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o sá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Trình giữ chỗ Văn bản 2"/>
          <p:cNvSpPr>
            <a:spLocks noGrp="1"/>
          </p:cNvSpPr>
          <p:nvPr>
            <p:ph type="body" idx="1" hasCustomPrompt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</p:txBody>
      </p:sp>
      <p:sp>
        <p:nvSpPr>
          <p:cNvPr id="4" name="Phần giữ chỗ nội dung 3"/>
          <p:cNvSpPr>
            <a:spLocks noGrp="1"/>
          </p:cNvSpPr>
          <p:nvPr>
            <p:ph sz="half" idx="2" hasCustomPrompt="1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5" name="Trình giữ chỗ Văn bản 4"/>
          <p:cNvSpPr>
            <a:spLocks noGrp="1"/>
          </p:cNvSpPr>
          <p:nvPr>
            <p:ph type="body" sz="quarter" idx="3" hasCustomPrompt="1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</p:txBody>
      </p:sp>
      <p:sp>
        <p:nvSpPr>
          <p:cNvPr id="6" name="Phần giữ chỗ nội dung 5"/>
          <p:cNvSpPr>
            <a:spLocks noGrp="1"/>
          </p:cNvSpPr>
          <p:nvPr>
            <p:ph sz="quarter" idx="4" hasCustomPrompt="1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7" name="Phần giữ chỗ ngà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8" name="Trình giữ chỗ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9" name="Trình giữ chỗ số trang chiế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ỉ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Trình giữ chỗ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5" name="Trình giữ chỗ số trang chiế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ần giữ chỗ ngà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Trình giữ chỗ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Trình giữ chỗ số trang chiế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hỉ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ần giữ chỗ nội dung 1"/>
          <p:cNvSpPr>
            <a:spLocks noGrp="1"/>
          </p:cNvSpPr>
          <p:nvPr>
            <p:ph hasCustomPrompt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Trình giữ chỗ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5" name="Trình giữ chỗ số trang chiế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êu đề và Phụ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Trình giữ chỗ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5" name="Trình giữ chỗ số trang chiế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  <p:sp>
        <p:nvSpPr>
          <p:cNvPr id="6" name="Tiêu đề phụ 5"/>
          <p:cNvSpPr>
            <a:spLocks noGrp="1"/>
          </p:cNvSpPr>
          <p:nvPr>
            <p:ph type="subTitle" idx="13" hasCustomPrompt="1"/>
            <p:custDataLst>
              <p:tags r:id="rId2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altLang="en-US" smtClean="0"/>
              <a:t>单击此处编辑副标题</a:t>
            </a:r>
            <a:endParaRPr lang="vi-VN" altLang="en-US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chiếu cuối cù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Trình giữ chỗ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5" name="Trình giữ chỗ số trang chiế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dirty="0"/>
              <a:t>Bấm để chỉnh sửa kiểu tiêu đề phụ của Bản cái</a:t>
            </a:r>
            <a:endParaRPr lang="vi-VN" dirty="0"/>
          </a:p>
        </p:txBody>
      </p:sp>
      <p:sp>
        <p:nvSpPr>
          <p:cNvPr id="16" name="Chỗ dành sẵn cho Ngày tháng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17" name="Chỗ dành sẵn cho Chân trang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18" name="Chỗ dành sẵn cho Số hiệu Bản chiếu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vi-VN" dirty="0"/>
              <a:t>Bấm để chỉnh sửa tiêu đề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Bấm để chỉnh sửa văn bản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Hình ảnh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vi-VN" smtClean="0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vi-VN" smtClean="0"/>
            </a:fld>
            <a:endParaRPr lang="vi-VN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vi-VN" smtClean="0"/>
            </a:fld>
            <a:endParaRPr lang="vi-VN"/>
          </a:p>
        </p:txBody>
      </p:sp>
      <p:sp>
        <p:nvSpPr>
          <p:cNvPr id="9" name="Tiêu đề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vi-VN"/>
              <a:t>Bấm để sửa kiểu tiêu đề Bản cái</a:t>
            </a:r>
            <a:endParaRPr lang="vi-V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7" name="Chỗ dành sẵn cho Nội dung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ản chiếu cuố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7" name="Chỗ dành sẵn cho Văn bản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rang chiếu Tiêu đề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ình giữ chỗ số trang chiế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  <p:sp>
        <p:nvSpPr>
          <p:cNvPr id="5" name="Trình giữ chỗ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Phần giữ chỗ ngà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ội dung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4" name="Phần giữ chỗ ngà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Trình giữ chỗ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Trình giữ chỗ số trang chiế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ần giữ chỗ ngà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Trình giữ chỗ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Trình giữ chỗ số trang chiế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êu đề phầ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Trình giữ chỗ Văn bản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</p:txBody>
      </p:sp>
      <p:sp>
        <p:nvSpPr>
          <p:cNvPr id="4" name="Phần giữ chỗ ngà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Trình giữ chỗ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Trình giữ chỗ số trang chiế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Nội dung hai cộ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ội dung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4" name="Phần giữ chỗ nội dung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5" name="Phần giữ chỗ ngà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6" name="Trình giữ chỗ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7" name="Trình giữ chỗ số trang chiế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o sá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Trình giữ chỗ Văn bản 2"/>
          <p:cNvSpPr>
            <a:spLocks noGrp="1"/>
          </p:cNvSpPr>
          <p:nvPr>
            <p:ph type="body" idx="1" hasCustomPrompt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</p:txBody>
      </p:sp>
      <p:sp>
        <p:nvSpPr>
          <p:cNvPr id="4" name="Phần giữ chỗ nội dung 3"/>
          <p:cNvSpPr>
            <a:spLocks noGrp="1"/>
          </p:cNvSpPr>
          <p:nvPr>
            <p:ph sz="half" idx="2" hasCustomPrompt="1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5" name="Trình giữ chỗ Văn bản 4"/>
          <p:cNvSpPr>
            <a:spLocks noGrp="1"/>
          </p:cNvSpPr>
          <p:nvPr>
            <p:ph type="body" sz="quarter" idx="3" hasCustomPrompt="1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</p:txBody>
      </p:sp>
      <p:sp>
        <p:nvSpPr>
          <p:cNvPr id="6" name="Phần giữ chỗ nội dung 5"/>
          <p:cNvSpPr>
            <a:spLocks noGrp="1"/>
          </p:cNvSpPr>
          <p:nvPr>
            <p:ph sz="quarter" idx="4" hasCustomPrompt="1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7" name="Phần giữ chỗ ngà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8" name="Trình giữ chỗ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9" name="Trình giữ chỗ số trang chiế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ỉ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Trình giữ chỗ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5" name="Trình giữ chỗ số trang chiế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ần giữ chỗ ngà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Trình giữ chỗ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Trình giữ chỗ số trang chiế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hỉ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ần giữ chỗ nội dung 1"/>
          <p:cNvSpPr>
            <a:spLocks noGrp="1"/>
          </p:cNvSpPr>
          <p:nvPr>
            <p:ph hasCustomPrompt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Trình giữ chỗ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5" name="Trình giữ chỗ số trang chiế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êu đề và Phụ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Trình giữ chỗ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5" name="Trình giữ chỗ số trang chiế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  <p:sp>
        <p:nvSpPr>
          <p:cNvPr id="6" name="Tiêu đề phụ 5"/>
          <p:cNvSpPr>
            <a:spLocks noGrp="1"/>
          </p:cNvSpPr>
          <p:nvPr>
            <p:ph type="subTitle" idx="13" hasCustomPrompt="1"/>
            <p:custDataLst>
              <p:tags r:id="rId2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altLang="en-US" smtClean="0"/>
              <a:t>单击此处编辑副标题</a:t>
            </a:r>
            <a:endParaRPr lang="vi-VN" altLang="en-US"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chiếu cuối cù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smtClean="0"/>
              <a:t>Nhấp để chỉnh sửa kiểu tiêu đề trang chiếu cái</a:t>
            </a:r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Trình giữ chỗ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5" name="Trình giữ chỗ số trang chiế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.xml"/><Relationship Id="rId16" Type="http://schemas.openxmlformats.org/officeDocument/2006/relationships/tags" Target="../tags/tag6.xml"/><Relationship Id="rId15" Type="http://schemas.openxmlformats.org/officeDocument/2006/relationships/tags" Target="../tags/tag5.xml"/><Relationship Id="rId14" Type="http://schemas.openxmlformats.org/officeDocument/2006/relationships/tags" Target="../tags/tag4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135.xml"/><Relationship Id="rId18" Type="http://schemas.openxmlformats.org/officeDocument/2006/relationships/tags" Target="../tags/tag134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8" Type="http://schemas.openxmlformats.org/officeDocument/2006/relationships/theme" Target="../theme/theme4.xml"/><Relationship Id="rId17" Type="http://schemas.openxmlformats.org/officeDocument/2006/relationships/tags" Target="../tags/tag142.xml"/><Relationship Id="rId16" Type="http://schemas.openxmlformats.org/officeDocument/2006/relationships/tags" Target="../tags/tag141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4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4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4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tags" Target="../tags/tag147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ình chữ nhật bo góc chéo 6"/>
          <p:cNvSpPr/>
          <p:nvPr/>
        </p:nvSpPr>
        <p:spPr>
          <a:xfrm>
            <a:off x="209550" y="180975"/>
            <a:ext cx="11771630" cy="1590040"/>
          </a:xfrm>
          <a:prstGeom prst="round2Diag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75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AutoFilter, chuẩn hóa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VLOOKUP kết nối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Mặt trời 7"/>
          <p:cNvSpPr/>
          <p:nvPr/>
        </p:nvSpPr>
        <p:spPr>
          <a:xfrm>
            <a:off x="236220" y="2318385"/>
            <a:ext cx="800735" cy="855345"/>
          </a:xfrm>
          <a:prstGeom prst="sun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9" name="Tia chớp 8"/>
          <p:cNvSpPr/>
          <p:nvPr/>
        </p:nvSpPr>
        <p:spPr>
          <a:xfrm>
            <a:off x="308610" y="3464560"/>
            <a:ext cx="600710" cy="636905"/>
          </a:xfrm>
          <a:prstGeom prst="lightningBol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0" name="Đám mây 9"/>
          <p:cNvSpPr/>
          <p:nvPr/>
        </p:nvSpPr>
        <p:spPr>
          <a:xfrm>
            <a:off x="363220" y="4465320"/>
            <a:ext cx="691515" cy="709930"/>
          </a:xfrm>
          <a:prstGeom prst="cloud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1" name="Hình lưỡi liềm 10"/>
          <p:cNvSpPr/>
          <p:nvPr/>
        </p:nvSpPr>
        <p:spPr>
          <a:xfrm rot="21060000">
            <a:off x="220345" y="5485765"/>
            <a:ext cx="915670" cy="719455"/>
          </a:xfrm>
          <a:prstGeom prst="moon">
            <a:avLst>
              <a:gd name="adj" fmla="val 36251"/>
            </a:avLst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2" name="Tam giác cân 11"/>
          <p:cNvSpPr/>
          <p:nvPr/>
        </p:nvSpPr>
        <p:spPr>
          <a:xfrm rot="5400000">
            <a:off x="-363855" y="2608580"/>
            <a:ext cx="363220" cy="36385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ình chữ nhật bo góc chéo 6"/>
          <p:cNvSpPr/>
          <p:nvPr/>
        </p:nvSpPr>
        <p:spPr>
          <a:xfrm>
            <a:off x="209550" y="180975"/>
            <a:ext cx="11771630" cy="1590040"/>
          </a:xfrm>
          <a:prstGeom prst="round2Diag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75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AutoFilter, chuẩn hóa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VLOOKUP kết nối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Mặt trời 7"/>
          <p:cNvSpPr/>
          <p:nvPr/>
        </p:nvSpPr>
        <p:spPr>
          <a:xfrm>
            <a:off x="725170" y="2260600"/>
            <a:ext cx="915670" cy="913130"/>
          </a:xfrm>
          <a:prstGeom prst="sun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9" name="Tia chớp 8"/>
          <p:cNvSpPr/>
          <p:nvPr/>
        </p:nvSpPr>
        <p:spPr>
          <a:xfrm>
            <a:off x="308610" y="3464560"/>
            <a:ext cx="600710" cy="636905"/>
          </a:xfrm>
          <a:prstGeom prst="lightningBol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0" name="Đám mây 9"/>
          <p:cNvSpPr/>
          <p:nvPr/>
        </p:nvSpPr>
        <p:spPr>
          <a:xfrm>
            <a:off x="363220" y="4465320"/>
            <a:ext cx="691515" cy="709930"/>
          </a:xfrm>
          <a:prstGeom prst="cloud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1" name="Hình lưỡi liềm 10"/>
          <p:cNvSpPr/>
          <p:nvPr/>
        </p:nvSpPr>
        <p:spPr>
          <a:xfrm rot="21060000">
            <a:off x="220345" y="5485765"/>
            <a:ext cx="915670" cy="719455"/>
          </a:xfrm>
          <a:prstGeom prst="moon">
            <a:avLst>
              <a:gd name="adj" fmla="val 36251"/>
            </a:avLst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2" name="Tam giác cân 11"/>
          <p:cNvSpPr/>
          <p:nvPr/>
        </p:nvSpPr>
        <p:spPr>
          <a:xfrm rot="5400000">
            <a:off x="180340" y="2563495"/>
            <a:ext cx="363220" cy="36385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3" name="Hộp văn bản 2"/>
          <p:cNvSpPr txBox="1"/>
          <p:nvPr/>
        </p:nvSpPr>
        <p:spPr>
          <a:xfrm>
            <a:off x="3091180" y="25641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3200" b="1"/>
              <a:t>5</a:t>
            </a:r>
            <a:r>
              <a:rPr lang="en-US" altLang="vi-VN" sz="3200" b="1"/>
              <a:t> Quy tắc Vàng</a:t>
            </a:r>
            <a:endParaRPr lang="en-US" altLang="vi-VN" sz="3200" b="1"/>
          </a:p>
        </p:txBody>
      </p:sp>
      <p:sp>
        <p:nvSpPr>
          <p:cNvPr id="5" name="Hộp văn bản 4"/>
          <p:cNvSpPr txBox="1"/>
          <p:nvPr/>
        </p:nvSpPr>
        <p:spPr>
          <a:xfrm>
            <a:off x="3005455" y="3348990"/>
            <a:ext cx="77101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vi-VN" sz="2800">
                <a:sym typeface="+mn-ea"/>
              </a:rPr>
              <a:t> </a:t>
            </a:r>
            <a:r>
              <a:rPr lang="vi-VN" altLang="en-US" sz="2800">
                <a:sym typeface="+mn-ea"/>
              </a:rPr>
              <a:t>- K</a:t>
            </a:r>
            <a:r>
              <a:rPr lang="en-US" altLang="vi-VN" sz="2800">
                <a:sym typeface="+mn-ea"/>
              </a:rPr>
              <a:t>hông merge ô</a:t>
            </a:r>
            <a:endParaRPr lang="en-US" altLang="vi-VN" sz="28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vi-VN" sz="2800">
                <a:sym typeface="+mn-ea"/>
              </a:rPr>
              <a:t> </a:t>
            </a:r>
            <a:r>
              <a:rPr lang="vi-VN" altLang="en-US" sz="2800">
                <a:sym typeface="+mn-ea"/>
              </a:rPr>
              <a:t>- K</a:t>
            </a:r>
            <a:r>
              <a:rPr lang="en-US" altLang="vi-VN" sz="2800">
                <a:sym typeface="+mn-ea"/>
              </a:rPr>
              <a:t>hông hàng trống,</a:t>
            </a:r>
            <a:endParaRPr lang="en-US" altLang="vi-VN" sz="28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vi-VN" sz="2800">
                <a:sym typeface="+mn-ea"/>
              </a:rPr>
              <a:t> </a:t>
            </a:r>
            <a:r>
              <a:rPr lang="vi-VN" altLang="en-US" sz="2800">
                <a:sym typeface="+mn-ea"/>
              </a:rPr>
              <a:t>- K</a:t>
            </a:r>
            <a:r>
              <a:rPr lang="en-US" altLang="vi-VN" sz="2800">
                <a:sym typeface="+mn-ea"/>
              </a:rPr>
              <a:t>hông d</a:t>
            </a:r>
            <a:r>
              <a:rPr lang="en-US" altLang="en-US" sz="2800">
                <a:sym typeface="+mn-ea"/>
              </a:rPr>
              <a:t>ò</a:t>
            </a:r>
            <a:r>
              <a:rPr lang="en-US" altLang="vi-VN" sz="2800">
                <a:sym typeface="+mn-ea"/>
              </a:rPr>
              <a:t>ng tổng cộng nằm trong v</a:t>
            </a:r>
            <a:r>
              <a:rPr lang="en-US" altLang="en-US" sz="2800">
                <a:sym typeface="+mn-ea"/>
              </a:rPr>
              <a:t>ù</a:t>
            </a:r>
            <a:r>
              <a:rPr lang="en-US" altLang="vi-VN" sz="2800">
                <a:sym typeface="+mn-ea"/>
              </a:rPr>
              <a:t>ng dữ liệu</a:t>
            </a:r>
            <a:endParaRPr lang="en-US" altLang="vi-VN" sz="2800"/>
          </a:p>
          <a:p>
            <a:endParaRPr lang="vi-VN" altLang="en-US" sz="28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ình chữ nhật bo góc chéo 6"/>
          <p:cNvSpPr/>
          <p:nvPr/>
        </p:nvSpPr>
        <p:spPr>
          <a:xfrm>
            <a:off x="209550" y="180975"/>
            <a:ext cx="11771630" cy="1590040"/>
          </a:xfrm>
          <a:prstGeom prst="round2Diag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75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AutoFilter, chuẩn hóa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VLOOKUP kết nối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Mặt trời 7"/>
          <p:cNvSpPr/>
          <p:nvPr/>
        </p:nvSpPr>
        <p:spPr>
          <a:xfrm>
            <a:off x="236220" y="2318385"/>
            <a:ext cx="800735" cy="855345"/>
          </a:xfrm>
          <a:prstGeom prst="sun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9" name="Tia chớp 8"/>
          <p:cNvSpPr/>
          <p:nvPr/>
        </p:nvSpPr>
        <p:spPr>
          <a:xfrm>
            <a:off x="930910" y="3463925"/>
            <a:ext cx="692150" cy="601980"/>
          </a:xfrm>
          <a:prstGeom prst="lightningBol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0" name="Đám mây 9"/>
          <p:cNvSpPr/>
          <p:nvPr/>
        </p:nvSpPr>
        <p:spPr>
          <a:xfrm>
            <a:off x="363220" y="4465320"/>
            <a:ext cx="691515" cy="709930"/>
          </a:xfrm>
          <a:prstGeom prst="cloud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1" name="Hình lưỡi liềm 10"/>
          <p:cNvSpPr/>
          <p:nvPr/>
        </p:nvSpPr>
        <p:spPr>
          <a:xfrm rot="21060000">
            <a:off x="220345" y="5485765"/>
            <a:ext cx="915670" cy="719455"/>
          </a:xfrm>
          <a:prstGeom prst="moon">
            <a:avLst>
              <a:gd name="adj" fmla="val 36251"/>
            </a:avLst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2" name="Tam giác cân 11"/>
          <p:cNvSpPr/>
          <p:nvPr/>
        </p:nvSpPr>
        <p:spPr>
          <a:xfrm rot="5400000">
            <a:off x="209550" y="3463925"/>
            <a:ext cx="363220" cy="36385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2" name="Hộp văn bản 1"/>
          <p:cNvSpPr txBox="1"/>
          <p:nvPr/>
        </p:nvSpPr>
        <p:spPr>
          <a:xfrm>
            <a:off x="2592070" y="2729230"/>
            <a:ext cx="81527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vi-VN" sz="3200" b="1"/>
              <a:t>Mô tả thao t</a:t>
            </a:r>
            <a:r>
              <a:rPr lang="en-US" altLang="en-US" sz="3200" b="1"/>
              <a:t>á</a:t>
            </a:r>
            <a:r>
              <a:rPr lang="en-US" altLang="vi-VN" sz="3200" b="1"/>
              <a:t>c bật</a:t>
            </a:r>
            <a:r>
              <a:rPr lang="vi-VN" altLang="en-US" sz="3200" b="1"/>
              <a:t> </a:t>
            </a:r>
            <a:r>
              <a:rPr lang="en-US" altLang="vi-VN" sz="3200" b="1"/>
              <a:t>AutoFilter</a:t>
            </a:r>
            <a:endParaRPr lang="en-US" altLang="vi-VN" sz="3200" b="1"/>
          </a:p>
        </p:txBody>
      </p:sp>
      <p:sp>
        <p:nvSpPr>
          <p:cNvPr id="3" name="Hộp văn bản 2"/>
          <p:cNvSpPr txBox="1"/>
          <p:nvPr/>
        </p:nvSpPr>
        <p:spPr>
          <a:xfrm>
            <a:off x="-883920" y="3343275"/>
            <a:ext cx="91198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altLang="vi-VN" sz="2800">
                <a:sym typeface="+mn-ea"/>
              </a:rPr>
              <a:t>(Ctrl+Shift+L) và lọc ra danh s</a:t>
            </a:r>
            <a:r>
              <a:rPr lang="en-US" altLang="en-US" sz="2800">
                <a:sym typeface="+mn-ea"/>
              </a:rPr>
              <a:t>á</a:t>
            </a:r>
            <a:r>
              <a:rPr lang="en-US" altLang="vi-VN" sz="2800">
                <a:sym typeface="+mn-ea"/>
              </a:rPr>
              <a:t>ch sinh vi</a:t>
            </a:r>
            <a:r>
              <a:rPr lang="en-US" altLang="en-US" sz="2800">
                <a:sym typeface="+mn-ea"/>
              </a:rPr>
              <a:t>ê</a:t>
            </a:r>
            <a:r>
              <a:rPr lang="en-US" altLang="vi-VN" sz="2800">
                <a:sym typeface="+mn-ea"/>
              </a:rPr>
              <a:t>n </a:t>
            </a:r>
            <a:r>
              <a:rPr lang="vi-VN" altLang="en-US" sz="2800">
                <a:sym typeface="+mn-ea"/>
              </a:rPr>
              <a:t>“Quá Hạn”</a:t>
            </a:r>
            <a:endParaRPr lang="vi-VN" altLang="en-US" sz="2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ình chữ nhật bo góc chéo 6"/>
          <p:cNvSpPr/>
          <p:nvPr/>
        </p:nvSpPr>
        <p:spPr>
          <a:xfrm>
            <a:off x="209550" y="180975"/>
            <a:ext cx="11771630" cy="1590040"/>
          </a:xfrm>
          <a:prstGeom prst="round2Diag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75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AutoFilter, chuẩn hóa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VLOOKUP kết nối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Mặt trời 7"/>
          <p:cNvSpPr/>
          <p:nvPr/>
        </p:nvSpPr>
        <p:spPr>
          <a:xfrm>
            <a:off x="236220" y="2318385"/>
            <a:ext cx="800735" cy="855345"/>
          </a:xfrm>
          <a:prstGeom prst="sun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9" name="Tia chớp 8"/>
          <p:cNvSpPr/>
          <p:nvPr/>
        </p:nvSpPr>
        <p:spPr>
          <a:xfrm>
            <a:off x="308610" y="3464560"/>
            <a:ext cx="600710" cy="636905"/>
          </a:xfrm>
          <a:prstGeom prst="lightningBol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0" name="Đám mây 9"/>
          <p:cNvSpPr/>
          <p:nvPr/>
        </p:nvSpPr>
        <p:spPr>
          <a:xfrm>
            <a:off x="1036955" y="4253865"/>
            <a:ext cx="800735" cy="854075"/>
          </a:xfrm>
          <a:prstGeom prst="cloud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1" name="Hình lưỡi liềm 10"/>
          <p:cNvSpPr/>
          <p:nvPr/>
        </p:nvSpPr>
        <p:spPr>
          <a:xfrm rot="21060000">
            <a:off x="220345" y="5485765"/>
            <a:ext cx="915670" cy="719455"/>
          </a:xfrm>
          <a:prstGeom prst="moon">
            <a:avLst>
              <a:gd name="adj" fmla="val 36251"/>
            </a:avLst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2" name="Tam giác cân 11"/>
          <p:cNvSpPr/>
          <p:nvPr/>
        </p:nvSpPr>
        <p:spPr>
          <a:xfrm rot="5400000">
            <a:off x="209550" y="4498340"/>
            <a:ext cx="363220" cy="36385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2" name="Hộp văn bản 1"/>
          <p:cNvSpPr txBox="1"/>
          <p:nvPr/>
        </p:nvSpPr>
        <p:spPr>
          <a:xfrm>
            <a:off x="3235960" y="2696210"/>
            <a:ext cx="60788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3200" b="1"/>
              <a:t>Công thức VLOOKUP</a:t>
            </a:r>
            <a:endParaRPr lang="vi-VN" altLang="en-US" sz="3200" b="1"/>
          </a:p>
        </p:txBody>
      </p:sp>
      <p:sp>
        <p:nvSpPr>
          <p:cNvPr id="6" name="Hộp văn bản 5"/>
          <p:cNvSpPr txBox="1"/>
          <p:nvPr/>
        </p:nvSpPr>
        <p:spPr>
          <a:xfrm>
            <a:off x="3336925" y="3300730"/>
            <a:ext cx="864425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2800"/>
              <a:t>=VLOOKUP(Giá trị cần tìm;Bảng dữ liệu;Số thứ tự cột;FLAST)</a:t>
            </a:r>
            <a:endParaRPr lang="vi-VN" altLang="en-US" sz="2800"/>
          </a:p>
          <a:p>
            <a:r>
              <a:rPr lang="vi-VN" altLang="en-US" sz="2800"/>
              <a:t>=IFERROR(</a:t>
            </a:r>
            <a:r>
              <a:rPr lang="vi-VN" altLang="en-US" sz="2800">
                <a:sym typeface="+mn-ea"/>
              </a:rPr>
              <a:t>VLOOKUP(Giá trị cần tìm;Bảng dữ liệu;Số thứ tự cột;FLAST);”chưa có tham số”)</a:t>
            </a:r>
            <a:endParaRPr lang="vi-VN" altLang="en-US" sz="2800"/>
          </a:p>
          <a:p>
            <a:endParaRPr lang="vi-VN" altLang="en-US" sz="28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ình chữ nhật bo góc chéo 6"/>
          <p:cNvSpPr/>
          <p:nvPr/>
        </p:nvSpPr>
        <p:spPr>
          <a:xfrm>
            <a:off x="209550" y="180975"/>
            <a:ext cx="11771630" cy="1590040"/>
          </a:xfrm>
          <a:prstGeom prst="round2Diag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75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AutoFilter, chuẩn hóa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vi-VN" altLang="en-US" sz="34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VLOOKUP kết nối dữ liệu</a:t>
            </a:r>
            <a:endParaRPr lang="vi-VN" altLang="en-US" sz="34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Mặt trời 7"/>
          <p:cNvSpPr/>
          <p:nvPr/>
        </p:nvSpPr>
        <p:spPr>
          <a:xfrm>
            <a:off x="236220" y="2318385"/>
            <a:ext cx="800735" cy="855345"/>
          </a:xfrm>
          <a:prstGeom prst="sun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9" name="Tia chớp 8"/>
          <p:cNvSpPr/>
          <p:nvPr/>
        </p:nvSpPr>
        <p:spPr>
          <a:xfrm>
            <a:off x="308610" y="3464560"/>
            <a:ext cx="600710" cy="636905"/>
          </a:xfrm>
          <a:prstGeom prst="lightningBol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0" name="Đám mây 9"/>
          <p:cNvSpPr/>
          <p:nvPr/>
        </p:nvSpPr>
        <p:spPr>
          <a:xfrm>
            <a:off x="363220" y="4465320"/>
            <a:ext cx="691515" cy="709930"/>
          </a:xfrm>
          <a:prstGeom prst="cloud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1" name="Hình lưỡi liềm 10"/>
          <p:cNvSpPr/>
          <p:nvPr/>
        </p:nvSpPr>
        <p:spPr>
          <a:xfrm rot="21060000">
            <a:off x="960120" y="5485765"/>
            <a:ext cx="915670" cy="719455"/>
          </a:xfrm>
          <a:prstGeom prst="moon">
            <a:avLst>
              <a:gd name="adj" fmla="val 36251"/>
            </a:avLst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12" name="Tam giác cân 11"/>
          <p:cNvSpPr/>
          <p:nvPr/>
        </p:nvSpPr>
        <p:spPr>
          <a:xfrm rot="5400000">
            <a:off x="236220" y="5663565"/>
            <a:ext cx="363220" cy="36385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 altLang="en-US"/>
          </a:p>
        </p:txBody>
      </p:sp>
      <p:sp>
        <p:nvSpPr>
          <p:cNvPr id="3" name="Hộp văn bản 2"/>
          <p:cNvSpPr txBox="1"/>
          <p:nvPr/>
        </p:nvSpPr>
        <p:spPr>
          <a:xfrm>
            <a:off x="4852670" y="213614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3200" b="1"/>
              <a:t>số sách mượn</a:t>
            </a:r>
            <a:endParaRPr lang="vi-VN" altLang="en-US" sz="3200" b="1"/>
          </a:p>
        </p:txBody>
      </p:sp>
      <p:graphicFrame>
        <p:nvGraphicFramePr>
          <p:cNvPr id="17" name="Biểu đồ 16"/>
          <p:cNvGraphicFramePr/>
          <p:nvPr/>
        </p:nvGraphicFramePr>
        <p:xfrm>
          <a:off x="2506345" y="2719705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Hộp văn bản 17"/>
          <p:cNvSpPr txBox="1"/>
          <p:nvPr/>
        </p:nvSpPr>
        <p:spPr>
          <a:xfrm rot="180000">
            <a:off x="5932170" y="5188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Đang mượn</a:t>
            </a:r>
            <a:endParaRPr lang="vi-VN" altLang="en-US"/>
          </a:p>
        </p:txBody>
      </p:sp>
      <p:sp>
        <p:nvSpPr>
          <p:cNvPr id="19" name="Hộp văn bản 18"/>
          <p:cNvSpPr txBox="1"/>
          <p:nvPr/>
        </p:nvSpPr>
        <p:spPr>
          <a:xfrm>
            <a:off x="4434840" y="50501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Đã trả</a:t>
            </a:r>
            <a:endParaRPr lang="vi-VN" altLang="en-US"/>
          </a:p>
        </p:txBody>
      </p:sp>
      <p:sp>
        <p:nvSpPr>
          <p:cNvPr id="21" name="Hộp văn bản 20"/>
          <p:cNvSpPr txBox="1"/>
          <p:nvPr/>
        </p:nvSpPr>
        <p:spPr>
          <a:xfrm>
            <a:off x="4681855" y="4014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Quá hạn</a:t>
            </a:r>
            <a:endParaRPr lang="vi-V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TYPE" val="b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3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136.xml><?xml version="1.0" encoding="utf-8"?>
<p:tagLst xmlns:p="http://schemas.openxmlformats.org/presentationml/2006/main">
  <p:tag name="KSO_WM_UNIT_TYPE" val="b"/>
  <p:tag name="KSO_WM_UNIT_INDEX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THEME_ID" val="3321262"/>
  <p:tag name="KSO_WM_SLIDE_THEME_NAME" val="White Minimalist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THEME_ID" val="3321262"/>
  <p:tag name="KSO_WM_SLIDE_THEME_NAME" val="White Minimalist"/>
</p:tagLst>
</file>

<file path=ppt/tags/tag1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THEME_ID" val="3321262"/>
  <p:tag name="KSO_WM_SLIDE_THEME_NAME" val="White Minimalist"/>
</p:tagLst>
</file>

<file path=ppt/tags/tag1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THEME_ID" val="3321262"/>
  <p:tag name="KSO_WM_SLIDE_THEME_NAME" val="White Minimalist"/>
</p:tagLst>
</file>

<file path=ppt/tags/tag1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THEME_ID" val="3321262"/>
  <p:tag name="KSO_WM_SLIDE_THEME_NAME" val="White Minimalist"/>
  <p:tag name="resource_record_key" val="{&quot;65&quot;:[20205081],&quot;8&quot;:[20284057]}"/>
</p:tagLst>
</file>

<file path=ppt/tags/tag148.xml><?xml version="1.0" encoding="utf-8"?>
<p:tagLst xmlns:p="http://schemas.openxmlformats.org/presentationml/2006/main">
  <p:tag name="resource_record_key" val="{&quot;65&quot;:[20233482],&quot;8&quot;:[20284057]}"/>
</p:tagLst>
</file>

<file path=ppt/theme/theme1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Times New Roman"/>
        <a:ea typeface="Arial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Times New Roman"/>
        <a:ea typeface="Arial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WPS Presentation</Application>
  <PresentationFormat>Màn hình rộng</PresentationFormat>
  <Paragraphs>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Manrope ExtraBold</vt:lpstr>
      <vt:lpstr>Segoe Print</vt:lpstr>
      <vt:lpstr>Lato</vt:lpstr>
      <vt:lpstr>Office 主题</vt:lpstr>
      <vt:lpstr>WPS</vt:lpstr>
      <vt:lpstr>Office Theme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trình bày trống</dc:title>
  <dc:creator>Manh Hao</dc:creator>
  <cp:lastModifiedBy>hào mạnh</cp:lastModifiedBy>
  <cp:revision>2</cp:revision>
  <dcterms:created xsi:type="dcterms:W3CDTF">2026-10-19T15:38:15Z</dcterms:created>
  <dcterms:modified xsi:type="dcterms:W3CDTF">2026-10-19T16:50:06Z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1066-12.1.0.29162</vt:lpwstr>
  </property>
  <property fmtid="{D5CDD505-2E9C-101B-9397-08002B2CF9AE}" pid="3" name="ICV">
    <vt:lpwstr>69B4302136C244F98D90834E1542311E_11</vt:lpwstr>
  </property>
</Properties>
</file>